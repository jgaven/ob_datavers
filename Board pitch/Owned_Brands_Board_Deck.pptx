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OBCO  ·  OWNED BRANDS  ·  BOARD DECISION BRIEF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Turn competitor sell-through into</a:t>
            </a:r>
            <a:endParaRPr lang="en-US" sz="4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higher-margin owned-brand revenue.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vendor-side sales-intelligence and CRM platform inside OBCO — read-only from governed OBCO data, owning only Owned Brands activity.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11094415" cy="713232"/>
          </a:xfrm>
          <a:prstGeom prst="roundRect">
            <a:avLst>
              <a:gd name="adj" fmla="val 12821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29200"/>
            <a:ext cx="1109441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identify sell-through</a:t>
            </a:r>
            <a:pPr algn="ctr" indent="0" marL="0">
              <a:buNone/>
            </a:pPr>
            <a:r>
              <a:rPr lang="en-US" sz="15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 to owned brand</a:t>
            </a:r>
            <a:pPr algn="ctr" indent="0" marL="0">
              <a:buNone/>
            </a:pPr>
            <a:r>
              <a:rPr lang="en-US" sz="15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quantify margin lift</a:t>
            </a:r>
            <a:pPr algn="ctr" indent="0" marL="0">
              <a:buNone/>
            </a:pPr>
            <a:r>
              <a:rPr lang="en-US" sz="15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 converts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Owned Brands Sales (OB_Vend &amp; OBCO)   ·   June 19, 2026   ·   Status: Discovery / prototype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competitor part our customers buy is owned-brand margin we can’t see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▲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Higher margin, same shelf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Owned-brand product carries materially higher margin than the competitor lines our customers buy today.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8218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658258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2538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customer is a target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2538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OBCO customer buying competitor product we can cross is a conversion opportunity — not just OB_Vend AV.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27797" y="2148840"/>
            <a:ext cx="3515258" cy="3108960"/>
          </a:xfrm>
          <a:prstGeom prst="roundRect">
            <a:avLst>
              <a:gd name="adj" fmla="val 2647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47837" y="246888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47837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∑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02117" y="3154680"/>
            <a:ext cx="296661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Sized once we can see 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02117" y="3840480"/>
            <a:ext cx="2966618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lift is quantified with the Data Office the moment sell-through access is granted.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platform’s job: find that sell-through at scale and route it to a rep.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2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own systems are blind to the vendor lens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64328" cy="2743200"/>
          </a:xfrm>
          <a:prstGeom prst="roundRect">
            <a:avLst>
              <a:gd name="adj" fmla="val 3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78728" y="2148840"/>
            <a:ext cx="5364328" cy="27432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61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Distributor lens — CORE &amp; USD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481568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distributor operating model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invoice, and channel transactions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view of brand sell-through or competitive conversion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vendor-side activity tracking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53048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 lens — what Owned Brands needs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53048" y="2788920"/>
            <a:ext cx="481568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sell-through, brand by brand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performance on every line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 cross-reference to owned-brand equivalents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Opportunities, quotes, and engagements tracked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conversion pipeline lives in disconnected spreadsheets — invisible to leadership and impossible to scale.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3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ENGINE — OUR NORTH STAR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loop converts competitor sell-through into margin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527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1472527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sell-through in the governed 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45054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47974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1861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2" name="Text 10"/>
          <p:cNvSpPr/>
          <p:nvPr/>
        </p:nvSpPr>
        <p:spPr>
          <a:xfrm>
            <a:off x="4371861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47974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0854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part to an owned-brand equivalent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4388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347308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71195" y="260604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71195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47308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Quantify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30188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margin lift of the switch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43721" y="2377440"/>
            <a:ext cx="502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246641" y="2377440"/>
            <a:ext cx="2396414" cy="2286000"/>
          </a:xfrm>
          <a:prstGeom prst="roundRect">
            <a:avLst>
              <a:gd name="adj" fmla="val 36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70528" y="260604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24" name="Text 22"/>
          <p:cNvSpPr/>
          <p:nvPr/>
        </p:nvSpPr>
        <p:spPr>
          <a:xfrm>
            <a:off x="10170528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46641" y="3291840"/>
            <a:ext cx="239641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29521" y="3749040"/>
            <a:ext cx="203065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the rep with the target and the pitch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SKU is the spine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one detail view unifies sales, stock, opportunities, crosses, and activity. Two tiers run the model: the OBCO seller channel (enablement) and the end customer (demand).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4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vendor-side platform and CRM — already prototyped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Cross-reference engine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→ owned-brand part mapping; living, searchable.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8698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7298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1" name="Text 9"/>
          <p:cNvSpPr/>
          <p:nvPr/>
        </p:nvSpPr>
        <p:spPr>
          <a:xfrm>
            <a:off x="4597298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283098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 + supply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83098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ranked by margin upside, paired with a stock signal.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8757" y="219456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7357" y="244144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6" name="Text 14"/>
          <p:cNvSpPr/>
          <p:nvPr/>
        </p:nvSpPr>
        <p:spPr>
          <a:xfrm>
            <a:off x="8417357" y="2441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☷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03157" y="239572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Vendor-lens CRM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03157" y="276148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Opportunities, quotes, calls, demos, hardware evals.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✉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email-drop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 emails a note → structured records; datasheet cross-extraction.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68698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7298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6" name="Text 24"/>
          <p:cNvSpPr/>
          <p:nvPr/>
        </p:nvSpPr>
        <p:spPr>
          <a:xfrm>
            <a:off x="4597298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▣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283098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Leadership dashboard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283098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query over the whole pipeline.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8757" y="3886200"/>
            <a:ext cx="3454298" cy="1371600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17357" y="4133088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31" name="Text 29"/>
          <p:cNvSpPr/>
          <p:nvPr/>
        </p:nvSpPr>
        <p:spPr>
          <a:xfrm>
            <a:off x="8417357" y="4133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▤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03157" y="4087368"/>
            <a:ext cx="24027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Inventory &amp; forecast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03157" y="4453128"/>
            <a:ext cx="2402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overlay with pipeline-weighted demand.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two-persona prototype (Leadership + Sales Team) already exists — this is proven UX, not a concept.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5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 &amp; GOVERNANCE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and in-tenant — zero risk to CORE or USD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64328" cy="3108960"/>
          </a:xfrm>
          <a:prstGeom prst="roundRect">
            <a:avLst>
              <a:gd name="adj" fmla="val 2647"/>
            </a:avLst>
          </a:prstGeom>
          <a:solidFill>
            <a:srgbClr val="FBECEC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32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will NOT 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8156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write / update / delete to CORE, USD, or any system of record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production-database connectivity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duplication or ownership of OBCO data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✕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 outside the Microsoft / Azure boundary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2148840"/>
            <a:ext cx="5364328" cy="3108960"/>
          </a:xfrm>
          <a:prstGeom prst="roundRect">
            <a:avLst>
              <a:gd name="adj" fmla="val 2647"/>
            </a:avLst>
          </a:prstGeom>
          <a:solidFill>
            <a:srgbClr val="EAF4EE"/>
          </a:solidFill>
          <a:ln w="12700">
            <a:solidFill>
              <a:srgbClr val="DCE5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53048" y="2331720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7F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it’s governed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53048" y="2834640"/>
            <a:ext cx="48156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Azure-native: App Service / Functions + isolated Azure SQL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SSO, application RBAC, territory row-level security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certified Power BI — no dataset duplication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✓"/>
            </a:pPr>
            <a:r>
              <a:rPr lang="en-US" sz="1400" dirty="0">
                <a:solidFill>
                  <a:srgbClr val="14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in-tenant; margin/cost handled as Confidential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54406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complements Power BI and introduces no new system of record for OBCO data.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6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B7F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phased build I can execute solo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511778" y="3017520"/>
            <a:ext cx="9168140" cy="0"/>
          </a:xfrm>
          <a:prstGeom prst="line">
            <a:avLst/>
          </a:prstGeom>
          <a:noFill/>
          <a:ln w="25400">
            <a:solidFill>
              <a:srgbClr val="DCE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58" y="27432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123745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Scoping, prototype, access one-pager, systems discovery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949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0" name="Text 8"/>
          <p:cNvSpPr/>
          <p:nvPr/>
        </p:nvSpPr>
        <p:spPr>
          <a:xfrm>
            <a:off x="352949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4067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8639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read-only approval; confirm mechanism with Data Office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2152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4" name="Text 12"/>
          <p:cNvSpPr/>
          <p:nvPr/>
        </p:nvSpPr>
        <p:spPr>
          <a:xfrm>
            <a:off x="582152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13271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7843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production — data layer, app DB, identity, Power BI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13563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3563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24745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70465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Email-drop, datasheet crosses, natural-language query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405598" y="2743200"/>
            <a:ext cx="548640" cy="548640"/>
          </a:xfrm>
          <a:prstGeom prst="ellipse">
            <a:avLst/>
          </a:prstGeom>
          <a:solidFill>
            <a:srgbClr val="1B7F4B"/>
          </a:solidFill>
          <a:ln/>
        </p:spPr>
      </p:sp>
      <p:sp>
        <p:nvSpPr>
          <p:cNvPr id="22" name="Text 20"/>
          <p:cNvSpPr/>
          <p:nvPr/>
        </p:nvSpPr>
        <p:spPr>
          <a:xfrm>
            <a:off x="10405598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16780" y="3429000"/>
            <a:ext cx="19262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4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Rollout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62500" y="3840480"/>
            <a:ext cx="183483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adoption, education &amp; sales-plan outputs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7F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by design: each phase is independently valuable and lowers the risk of the next.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Brands Sales Intelligence Platform</a:t>
            </a:r>
            <a:pPr algn="l" indent="0" marL="0">
              <a:buNone/>
            </a:pPr>
            <a:r>
              <a:rPr lang="en-US" sz="900" dirty="0">
                <a:solidFill>
                  <a:srgbClr val="5861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Confidential — Internal   ·   7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37B2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read-only access, an Azure environment, and governance liaisons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203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Read-only data access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167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OBCO sales data incl. margin/cost — via certified datasets, Power BI, or the API layer. Defined Owned Brands user group; sole user at launch, expandable.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429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429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3346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build environment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310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/ resource group under OBCO governance, Entra ID app registration, Azure OpenAI in-tenant, and a Power BI workspace with certified-dataset read access.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B3020"/>
          </a:solidFill>
          <a:ln w="12700">
            <a:solidFill>
              <a:srgbClr val="1B7F4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72000"/>
            <a:ext cx="548640" cy="548640"/>
          </a:xfrm>
          <a:prstGeom prst="ellipse">
            <a:avLst/>
          </a:prstGeom>
          <a:solidFill>
            <a:srgbClr val="37B26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489704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liaisons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4453128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D6E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contacts from Data Office, BI Governance, Cloud Engineering, and IT Security — plus confirmation of the access-request workflow and margin/cost classification.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B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requested: </a:t>
            </a:r>
            <a:pPr indent="0" marL="0">
              <a:buNone/>
            </a:pPr>
            <a:r>
              <a:rPr lang="en-US" sz="1300" dirty="0">
                <a:solidFill>
                  <a:srgbClr val="B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to CORE/USD, direct DB connectivity, data duplication, or any egress.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 these and Owned Brands starts converting competitor sell-through into margin.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2026-06-20T03:30:33Z</dcterms:created>
  <dcterms:modified xsi:type="dcterms:W3CDTF">2026-06-20T03:30:33Z</dcterms:modified>
</cp:coreProperties>
</file>